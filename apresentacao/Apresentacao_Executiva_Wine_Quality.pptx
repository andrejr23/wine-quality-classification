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</c:v>
                </c:pt>
              </c:strCache>
            </c:strRef>
          </c:tx>
          <c:spPr>
            <a:solidFill>
              <a:srgbClr val="A26769"/>
            </a:solidFill>
            <a:ln>
              <a:noFill/>
            </a:ln>
          </c:spPr>
          <c:dPt>
            <c:idx val="1"/>
            <c:spPr>
              <a:solidFill>
                <a:srgbClr val="6D2E46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Baixa / Média
(nota abaixo de 7)</c:v>
                </c:pt>
                <c:pt idx="1">
                  <c:v>Alta qualidade
(nota 7 ou mais)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86.4</c:v>
                </c:pt>
                <c:pt idx="1">
                  <c:v>13.6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200" b="1">
                  <a:solidFill>
                    <a:srgbClr val="3A2C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D3D6"/>
            </a:solidFill>
          </a:ln>
        </c:spPr>
        <c:txPr>
          <a:bodyPr/>
          <a:lstStyle/>
          <a:p>
            <a:pPr>
              <a:defRPr sz="1200">
                <a:solidFill>
                  <a:srgbClr val="3A2C3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Relação com a nota</c:v>
                </c:pt>
              </c:strCache>
            </c:strRef>
          </c:tx>
          <c:spPr>
            <a:solidFill>
              <a:srgbClr val="6D2E4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Teor alcoólico</c:v>
                </c:pt>
                <c:pt idx="1">
                  <c:v>Sulfatos</c:v>
                </c:pt>
                <c:pt idx="2">
                  <c:v>Ácido cítrico</c:v>
                </c:pt>
                <c:pt idx="3">
                  <c:v>Acidez fixa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0.48</c:v>
                </c:pt>
                <c:pt idx="1">
                  <c:v>0.25</c:v>
                </c:pt>
                <c:pt idx="2">
                  <c:v>0.23</c:v>
                </c:pt>
                <c:pt idx="3">
                  <c:v>0.12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200" b="1">
                  <a:solidFill>
                    <a:srgbClr val="3A2C3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D3D6"/>
            </a:solidFill>
          </a:ln>
        </c:spPr>
        <c:txPr>
          <a:bodyPr/>
          <a:lstStyle/>
          <a:p>
            <a:pPr>
              <a:defRPr sz="1200">
                <a:solidFill>
                  <a:srgbClr val="3A2C3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 (0:00-0:30). Apresente o grupo e a pergunta central: da para prever a qualidade de um vinho antes de alguem prova-lo? Preencher os nomes dos 5 integrantes.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Contexto (0:30-1:15). O metodo atual e humano: caro, lento e inconsistente. Nao ataque o especialista - o ponto e que ele nao escala.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virada do argumento: o dado que resolveria o problema ja existe. Ninguem precisa instalar sensor novo - a producao ja mede tudo isso por controle de qualidade.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a base sem jargao. Nao diga 'dataset' nem 'variaveis': diga 'medicoes'. Preencher o numero de amostras com o valor real da base escolhida.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Achado 1 - o desbalanceamento. Este e o slide mais importante da analise. Explique que vinho excelente e raro, e que por isso 'acertar a maioria' nao significa nada. Substituir os percentuais pelos valores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Achado 2 - o que os vinhos bons tem em comum. Fale de alcool e de sulfatos em linguagem de producao (ponto de colheita, maturacao da uva). Substituir os valores.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Achado 3 - o defeito. Acidez volatil e o acido acetico: e literalmente o caminho do vinho para virar vinagre. Este e o achado mais acionavel para a producao.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slide atende a exigencia do enunciado de justificar cada correlacao. No video, cite so duas; o resto fica na apresentacao escrita. Preencher os valores.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Como testamos, sem matematica. A frase-chave: separamos parte dos vinhos e escondemos a nota deles, para conferir se o metodo acertaria sozinho.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Resultado (2:45-3:45). Nao fale em acuracia, F1 ou AUC. Traduza: 'de cada 10 vinhos bons, o metodo encontra X'. Substituir os numeros pelos resultados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Recomendacao (3:45-4:40). Aqui e onde o trabalho vira valor. Cada linha e uma acao concreta para a producao, nao uma constatacao.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Fechamento (4:40-5:00). Encerre com a frase de impacto e seja honesto sobre os limites - isso aumenta a credibilidade diante da diretoria.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78040" y="1051560"/>
            <a:ext cx="5029200" cy="5029200"/>
          </a:xfrm>
          <a:prstGeom prst="ellipse">
            <a:avLst/>
          </a:prstGeom>
          <a:solidFill>
            <a:srgbClr val="432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09560" y="1783080"/>
            <a:ext cx="3566160" cy="3566160"/>
          </a:xfrm>
          <a:prstGeom prst="ellipse">
            <a:avLst/>
          </a:prstGeom>
          <a:solidFill>
            <a:srgbClr val="5A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41080" y="2514600"/>
            <a:ext cx="2103120" cy="21031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C98A92"/>
                </a:solidFill>
                <a:latin typeface="Calibri"/>
              </a:rPr>
              <a:t>TECH CHALLENGE · FASE 2 · MACHINE LEARNING APPLIED TO 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7223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Classificando a qualidade de vinhos com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977639"/>
            <a:ext cx="7223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ECE2D0"/>
                </a:solidFill>
                <a:latin typeface="Calibri"/>
              </a:rPr>
              <a:t>Pós-Tech FIAP · Data Analytics · Turma 14DTAT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709160"/>
            <a:ext cx="7223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A26769"/>
                </a:solidFill>
                <a:latin typeface="Calibri"/>
              </a:rPr>
              <a:t>INTEGRANTES</a:t>
            </a:r>
          </a:p>
          <a:p>
            <a:pPr algn="l"/>
            <a:r>
              <a:rPr sz="1400" b="0" i="0">
                <a:solidFill>
                  <a:srgbClr val="C9B3B8"/>
                </a:solidFill>
                <a:latin typeface="Calibri"/>
              </a:rPr>
              <a:t>Nome 1  ·  Nome 2  ·  Nome 3  ·  Nome 4  ·  Nome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7223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9B3B8"/>
                </a:solidFill>
                <a:latin typeface="Calibri"/>
              </a:rPr>
              <a:t>Setembro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6D2E46"/>
                </a:solidFill>
                <a:latin typeface="Cambria"/>
              </a:rPr>
              <a:t>A qualidade do vinho depende de quem prova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44168"/>
            <a:ext cx="10180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8A7A7E"/>
                </a:solidFill>
                <a:latin typeface="Calibri"/>
              </a:rPr>
              <a:t>A avaliação é sensorial: um especialista prova cada amostra e atribui uma nota.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49377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550" b="0" i="0">
                <a:solidFill>
                  <a:srgbClr val="3A2C30"/>
                </a:solidFill>
                <a:latin typeface="Calibri"/>
              </a:rPr>
              <a:t>Esse é o padrão da indústria há décadas — e funciona. O problema não é a competência do enólogo: é que o método não acompanha a escala da produção.</a:t>
            </a:r>
          </a:p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3A2C30"/>
                </a:solidFill>
                <a:latin typeface="Calibri"/>
              </a:rPr>
              <a:t>Cada lote avaliado consome tempo de um profissional escasso, e a nota final carrega a variação natural de qualquer julgamento humano.</a:t>
            </a:r>
          </a:p>
        </p:txBody>
      </p:sp>
      <p:sp>
        <p:nvSpPr>
          <p:cNvPr id="5" name="Oval 4"/>
          <p:cNvSpPr/>
          <p:nvPr/>
        </p:nvSpPr>
        <p:spPr>
          <a:xfrm>
            <a:off x="5943600" y="2148840"/>
            <a:ext cx="658368" cy="65836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2280" y="2167128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6D2E46"/>
                </a:solidFill>
                <a:latin typeface="Calibri"/>
              </a:rPr>
              <a:t>Subjetivo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2532888"/>
            <a:ext cx="4800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8A7A7E"/>
                </a:solidFill>
                <a:latin typeface="Calibri"/>
              </a:rPr>
              <a:t>A nota depende do paladar, da memória sensorial e da experiência de quem prova.</a:t>
            </a:r>
          </a:p>
        </p:txBody>
      </p:sp>
      <p:sp>
        <p:nvSpPr>
          <p:cNvPr id="8" name="Oval 7"/>
          <p:cNvSpPr/>
          <p:nvPr/>
        </p:nvSpPr>
        <p:spPr>
          <a:xfrm>
            <a:off x="5943600" y="3447288"/>
            <a:ext cx="658368" cy="65836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3465576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6D2E46"/>
                </a:solidFill>
                <a:latin typeface="Calibri"/>
              </a:rPr>
              <a:t>Lento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3831336"/>
            <a:ext cx="4800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8A7A7E"/>
                </a:solidFill>
                <a:latin typeface="Calibri"/>
              </a:rPr>
              <a:t>Cada amostra exige uma sessão de degustação dedicada.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0" y="4745736"/>
            <a:ext cx="658368" cy="65836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764023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6D2E46"/>
                </a:solidFill>
                <a:latin typeface="Calibri"/>
              </a:rPr>
              <a:t>Inconsistente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5129783"/>
            <a:ext cx="4800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8A7A7E"/>
                </a:solidFill>
                <a:latin typeface="Calibri"/>
              </a:rPr>
              <a:t>Dois especialistas podem discordar sobre o mesmo lote.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46320" cy="6858000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6D2E46"/>
                </a:solidFill>
                <a:latin typeface="Calibri"/>
              </a:rPr>
              <a:t>JÁ MEDIDOS EM CADA LOTE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9000" b="1" i="0">
                <a:solidFill>
                  <a:srgbClr val="6D2E46"/>
                </a:solidFill>
                <a:latin typeface="Cambri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3566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3A2C30"/>
                </a:solidFill>
                <a:latin typeface="Calibri"/>
              </a:rPr>
              <a:t>indicadores físico-químicos que a vinícola já coleta por controle de qualidade, antes de qualquer degustação.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051560"/>
            <a:ext cx="615391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 i="0">
                <a:solidFill>
                  <a:srgbClr val="6D2E46"/>
                </a:solidFill>
                <a:latin typeface="Cambria"/>
              </a:rPr>
              <a:t>A informação que falta já está na linha de produção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1539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3A2C30"/>
                </a:solidFill>
                <a:latin typeface="Calibri"/>
              </a:rPr>
              <a:t>Acidez, açúcar, álcool, densidade e enxofre são medidos de rotina. A proposta é usar esses números para antecipar a nota que o especialista daria.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3840480"/>
            <a:ext cx="475488" cy="47548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3822192"/>
            <a:ext cx="55138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6D2E46"/>
                </a:solidFill>
                <a:latin typeface="Calibri"/>
              </a:rPr>
              <a:t>Antecipa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4133088"/>
            <a:ext cx="5513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8A7A7E"/>
                </a:solidFill>
                <a:latin typeface="Calibri"/>
              </a:rPr>
              <a:t>O produtor sabe o resultado provável antes do engarrafamento.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0" y="4709160"/>
            <a:ext cx="475488" cy="47548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690872"/>
            <a:ext cx="55138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6D2E46"/>
                </a:solidFill>
                <a:latin typeface="Calibri"/>
              </a:rPr>
              <a:t>Padroniza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5001768"/>
            <a:ext cx="5513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8A7A7E"/>
                </a:solidFill>
                <a:latin typeface="Calibri"/>
              </a:rPr>
              <a:t>Critério único para todos os lotes, sem variação de avaliador.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0" y="5577840"/>
            <a:ext cx="475488" cy="47548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5559552"/>
            <a:ext cx="55138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6D2E46"/>
                </a:solidFill>
                <a:latin typeface="Calibri"/>
              </a:rPr>
              <a:t>Direciona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5870448"/>
            <a:ext cx="5513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8A7A7E"/>
                </a:solidFill>
                <a:latin typeface="Calibri"/>
              </a:rPr>
              <a:t>Aponta qual variável ajustar no processo para melhorar o lote.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6D2E46"/>
                </a:solidFill>
                <a:latin typeface="Cambria"/>
              </a:rPr>
              <a:t>O que foi analisado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44168"/>
            <a:ext cx="10180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8A7A7E"/>
                </a:solidFill>
                <a:latin typeface="Calibri"/>
              </a:rPr>
              <a:t>Amostras de vinho com as medições de produção e a nota final dada pelos especialistas.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3566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6D2E46"/>
                </a:solidFill>
                <a:latin typeface="Cambria"/>
              </a:rPr>
              <a:t>1.599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78608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A7A7E"/>
                </a:solidFill>
                <a:latin typeface="Calibri"/>
              </a:rPr>
              <a:t>amostras analisadas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874519"/>
            <a:ext cx="3566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6D2E46"/>
                </a:solidFill>
                <a:latin typeface="Cambria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2578608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A7A7E"/>
                </a:solidFill>
                <a:latin typeface="Calibri"/>
              </a:rPr>
              <a:t>medições por amostra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874519"/>
            <a:ext cx="3566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6D2E46"/>
                </a:solidFill>
                <a:latin typeface="Cambria"/>
              </a:rPr>
              <a:t>0 a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578608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A7A7E"/>
                </a:solidFill>
                <a:latin typeface="Calibri"/>
              </a:rPr>
              <a:t>escala da nota final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3429000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D2E46"/>
                </a:solidFill>
                <a:latin typeface="Calibri"/>
              </a:rPr>
              <a:t>Acidez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94759"/>
            <a:ext cx="2926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8A7A7E"/>
                </a:solidFill>
                <a:latin typeface="Calibri"/>
              </a:rPr>
              <a:t>Acidez fixa, acidez volátil e ácido cítrico — definem o frescor e denunciam defeitos.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59" y="324612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80559" y="3429000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D2E46"/>
                </a:solidFill>
                <a:latin typeface="Calibri"/>
              </a:rPr>
              <a:t>Açúcar residual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3794759"/>
            <a:ext cx="2926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8A7A7E"/>
                </a:solidFill>
                <a:latin typeface="Calibri"/>
              </a:rPr>
              <a:t>O açúcar que sobra após a fermentação; separa vinhos secos de suaves.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324612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83879" y="3429000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D2E46"/>
                </a:solidFill>
                <a:latin typeface="Calibri"/>
              </a:rPr>
              <a:t>Cloretos e sulfatos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3794759"/>
            <a:ext cx="2926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8A7A7E"/>
                </a:solidFill>
                <a:latin typeface="Calibri"/>
              </a:rPr>
              <a:t>Sais presentes no vinho; influenciam salinidade e estabilidade.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4632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7240" y="5029200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D2E46"/>
                </a:solidFill>
                <a:latin typeface="Calibri"/>
              </a:rPr>
              <a:t>Dióxido de enxofre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94959"/>
            <a:ext cx="2926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8A7A7E"/>
                </a:solidFill>
                <a:latin typeface="Calibri"/>
              </a:rPr>
              <a:t>Livre e total — é o conservante que protege o vinho da oxidação.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59" y="484632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480559" y="5029200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D2E46"/>
                </a:solidFill>
                <a:latin typeface="Calibri"/>
              </a:rPr>
              <a:t>Densidade e pH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5394959"/>
            <a:ext cx="2926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8A7A7E"/>
                </a:solidFill>
                <a:latin typeface="Calibri"/>
              </a:rPr>
              <a:t>Indicadores físicos ligados ao teor de álcool e ao equilíbrio ácido.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484632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83879" y="5029200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D2E46"/>
                </a:solidFill>
                <a:latin typeface="Calibri"/>
              </a:rPr>
              <a:t>Teor alcoólico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5394959"/>
            <a:ext cx="2926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8A7A7E"/>
                </a:solidFill>
                <a:latin typeface="Calibri"/>
              </a:rPr>
              <a:t>Resultado direto da maturação da uva e do ponto de colheita.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6D2E46"/>
                </a:solidFill>
                <a:latin typeface="Cambria"/>
              </a:rPr>
              <a:t>Achado 1 — vinho excelente é exceção, não regra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44168"/>
            <a:ext cx="10180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8A7A7E"/>
                </a:solidFill>
                <a:latin typeface="Calibri"/>
              </a:rPr>
              <a:t>A distribuição das notas mostra uma concentração forte na faixa intermediária.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" y="2057400"/>
          <a:ext cx="576072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053328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8A7A7E"/>
                </a:solidFill>
                <a:latin typeface="Calibri"/>
              </a:rPr>
              <a:t>Numeros ilustrativos. Substituir pelos resultados reais apos rodar os notebooks.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2057400"/>
            <a:ext cx="5010912" cy="1965960"/>
          </a:xfrm>
          <a:prstGeom prst="roundRect">
            <a:avLst>
              <a:gd name="adj" fmla="val 6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949440" y="2286000"/>
            <a:ext cx="4389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6D2E46"/>
                </a:solidFill>
                <a:latin typeface="Cambria"/>
              </a:rPr>
              <a:t>1 em cada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3127248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3A2C30"/>
                </a:solidFill>
                <a:latin typeface="Calibri"/>
              </a:rPr>
              <a:t>é a proporção aproximada de vinhos classificados como de alta qualidade.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4343400"/>
            <a:ext cx="501091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6D2E46"/>
                </a:solidFill>
                <a:latin typeface="Calibri"/>
              </a:rPr>
              <a:t>Por que isso muda tudo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0" i="0">
                <a:solidFill>
                  <a:srgbClr val="3A2C30"/>
                </a:solidFill>
                <a:latin typeface="Calibri"/>
              </a:rPr>
              <a:t>Um método que dissesse “este vinho é comum” para absolutamente todos os lotes acertaria a grande maioria dos casos — e seria completamente inútil.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3A2C30"/>
                </a:solidFill>
                <a:latin typeface="Calibri"/>
              </a:rPr>
              <a:t>Por isso o critério de sucesso aqui não é “quantos acertos”, e sim quantos vinhos realmente bons o método consegue encontrar.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6D2E46"/>
                </a:solidFill>
                <a:latin typeface="Cambria"/>
              </a:rPr>
              <a:t>Achado 2 — o que os vinhos bons têm em comum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44168"/>
            <a:ext cx="10180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8A7A7E"/>
                </a:solidFill>
                <a:latin typeface="Calibri"/>
              </a:rPr>
              <a:t>Medições que crescem junto com a nota atribuída pelos especialistas.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" y="2057400"/>
          <a:ext cx="594360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85216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8A7A7E"/>
                </a:solidFill>
                <a:latin typeface="Calibri"/>
              </a:rPr>
              <a:t>Quanto maior a barra, mais forte a associação com uma nota alta. Numeros ilustrativos. Substituir pelos resultados reais apos rodar os notebooks.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2280" y="2103120"/>
            <a:ext cx="4828032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6D2E46"/>
                </a:solidFill>
                <a:latin typeface="Calibri"/>
              </a:rPr>
              <a:t>O álcool é o sinal mais forte</a:t>
            </a:r>
          </a:p>
          <a:p>
            <a:pPr algn="l">
              <a:lnSpc>
                <a:spcPct val="130000"/>
              </a:lnSpc>
              <a:spcAft>
                <a:spcPts val="1600"/>
              </a:spcAft>
            </a:pPr>
            <a:r>
              <a:rPr sz="1450" b="0" i="0">
                <a:solidFill>
                  <a:srgbClr val="3A2C30"/>
                </a:solidFill>
                <a:latin typeface="Calibri"/>
              </a:rPr>
              <a:t>Teor alcoólico mais alto costuma vir de uvas mais maduras e concentradas — e é justamente esse corpo que o especialista premia na degustação.</a:t>
            </a:r>
          </a:p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6D2E46"/>
                </a:solidFill>
                <a:latin typeface="Calibri"/>
              </a:rPr>
              <a:t>Leitura para a produção</a:t>
            </a:r>
          </a:p>
          <a:p>
            <a:pPr algn="l">
              <a:lnSpc>
                <a:spcPct val="130000"/>
              </a:lnSpc>
              <a:spcAft>
                <a:spcPts val="1600"/>
              </a:spcAft>
            </a:pPr>
            <a:r>
              <a:rPr sz="1450" b="0" i="0">
                <a:solidFill>
                  <a:srgbClr val="3A2C30"/>
                </a:solidFill>
                <a:latin typeface="Calibri"/>
              </a:rPr>
              <a:t>O ponto de colheita da uva aparece como uma das alavancas mais relevantes de qualidade — uma decisão que acontece meses antes do engarrafamento.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3A2C30"/>
                </a:solidFill>
                <a:latin typeface="Calibri"/>
              </a:rPr>
              <a:t>Os sulfatos também aparecem entre os sinais positivos, sugerindo que a dosagem correta do conservante acompanha lotes mais bem avaliados.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6D2E46"/>
                </a:solidFill>
                <a:latin typeface="Cambria"/>
              </a:rPr>
              <a:t>Achado 3 — o que derruba a nota é um defeito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44168"/>
            <a:ext cx="10180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8A7A7E"/>
                </a:solidFill>
                <a:latin typeface="Calibri"/>
              </a:rPr>
              <a:t>A acidez volátil se comporta como o oposto da qualidade: quanto maior, pior a avaliação.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48840"/>
            <a:ext cx="5394960" cy="3108960"/>
          </a:xfrm>
          <a:prstGeom prst="roundRect">
            <a:avLst>
              <a:gd name="adj" fmla="val 6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Vinhos de alta qualidade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3099815"/>
            <a:ext cx="118872" cy="11887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7" y="3017520"/>
            <a:ext cx="437083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CE2D0"/>
                </a:solidFill>
                <a:latin typeface="Calibri"/>
              </a:rPr>
              <a:t>Acidez volátil baixa e controlada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813048"/>
            <a:ext cx="118872" cy="11887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7" y="3730752"/>
            <a:ext cx="437083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CE2D0"/>
                </a:solidFill>
                <a:latin typeface="Calibri"/>
              </a:rPr>
              <a:t>Teor alcoólico acima da média do lote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4526279"/>
            <a:ext cx="118872" cy="11887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7" y="4443983"/>
            <a:ext cx="437083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CE2D0"/>
                </a:solidFill>
                <a:latin typeface="Calibri"/>
              </a:rPr>
              <a:t>Boa presença de ácido cítrico e sulfatos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2148840"/>
            <a:ext cx="5394960" cy="3108960"/>
          </a:xfrm>
          <a:prstGeom prst="roundRect">
            <a:avLst>
              <a:gd name="adj" fmla="val 6000"/>
            </a:avLst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11112" y="242316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6D2E46"/>
                </a:solidFill>
                <a:latin typeface="Calibri"/>
              </a:rPr>
              <a:t>Vinhos comuns</a:t>
            </a:r>
          </a:p>
        </p:txBody>
      </p:sp>
      <p:sp>
        <p:nvSpPr>
          <p:cNvPr id="14" name="Oval 13"/>
          <p:cNvSpPr/>
          <p:nvPr/>
        </p:nvSpPr>
        <p:spPr>
          <a:xfrm>
            <a:off x="6611112" y="3099815"/>
            <a:ext cx="118872" cy="1188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3017520"/>
            <a:ext cx="437083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8A7A7E"/>
                </a:solidFill>
                <a:latin typeface="Calibri"/>
              </a:rPr>
              <a:t>Acidez volátil elevada — risco de acetificação</a:t>
            </a:r>
          </a:p>
        </p:txBody>
      </p:sp>
      <p:sp>
        <p:nvSpPr>
          <p:cNvPr id="16" name="Oval 15"/>
          <p:cNvSpPr/>
          <p:nvPr/>
        </p:nvSpPr>
        <p:spPr>
          <a:xfrm>
            <a:off x="6611112" y="3813048"/>
            <a:ext cx="118872" cy="1188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3730752"/>
            <a:ext cx="437083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8A7A7E"/>
                </a:solidFill>
                <a:latin typeface="Calibri"/>
              </a:rPr>
              <a:t>Teor alcoólico mais baixo</a:t>
            </a:r>
          </a:p>
        </p:txBody>
      </p:sp>
      <p:sp>
        <p:nvSpPr>
          <p:cNvPr id="18" name="Oval 17"/>
          <p:cNvSpPr/>
          <p:nvPr/>
        </p:nvSpPr>
        <p:spPr>
          <a:xfrm>
            <a:off x="6611112" y="4526279"/>
            <a:ext cx="118872" cy="1188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4443983"/>
            <a:ext cx="437083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8A7A7E"/>
                </a:solidFill>
                <a:latin typeface="Calibri"/>
              </a:rPr>
              <a:t>Menor concentração aromática e estrutural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 i="0">
                <a:solidFill>
                  <a:srgbClr val="6D2E46"/>
                </a:solidFill>
                <a:latin typeface="Calibri"/>
              </a:rPr>
              <a:t>O que isso significa na prática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3A2C30"/>
                </a:solidFill>
                <a:latin typeface="Calibri"/>
              </a:rPr>
              <a:t>Acidez volátil alta é o ácido acético — o mesmo do vinagre. Não é uma questão de gosto pessoal: é um defeito de processo, e defeito de processo se corrige.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6D2E46"/>
                </a:solidFill>
                <a:latin typeface="Cambria"/>
              </a:rPr>
              <a:t>As relações entre as medições fazem sentido físico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44168"/>
            <a:ext cx="10180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8A7A7E"/>
                </a:solidFill>
                <a:latin typeface="Calibri"/>
              </a:rPr>
              <a:t>Cada associação encontrada nos dados tem uma explicação conhecida da enologia.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48840"/>
            <a:ext cx="5394960" cy="1737360"/>
          </a:xfrm>
          <a:prstGeom prst="roundRect">
            <a:avLst>
              <a:gd name="adj" fmla="val 6000"/>
            </a:avLst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D2E46"/>
                </a:solidFill>
                <a:latin typeface="Calibri"/>
              </a:rPr>
              <a:t>Álcool e densidade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313432"/>
            <a:ext cx="1234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" b="1" i="0">
                <a:solidFill>
                  <a:srgbClr val="A26769"/>
                </a:solidFill>
                <a:latin typeface="Cambria"/>
              </a:rPr>
              <a:t>0,00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07208"/>
            <a:ext cx="4663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8A7A7E"/>
                </a:solidFill>
                <a:latin typeface="Calibri"/>
              </a:rPr>
              <a:t>O álcool é menos denso que a água: quanto mais álcool, menor a densidade do vinho. É uma relação física direta.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2148840"/>
            <a:ext cx="5394960" cy="1737360"/>
          </a:xfrm>
          <a:prstGeom prst="roundRect">
            <a:avLst>
              <a:gd name="adj" fmla="val 6000"/>
            </a:avLst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11112" y="237744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D2E46"/>
                </a:solidFill>
                <a:latin typeface="Calibri"/>
              </a:rPr>
              <a:t>Acidez fixa e 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5832" y="2313432"/>
            <a:ext cx="1234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" b="1" i="0">
                <a:solidFill>
                  <a:srgbClr val="A26769"/>
                </a:solidFill>
                <a:latin typeface="Cambria"/>
              </a:rPr>
              <a:t>0,00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2807208"/>
            <a:ext cx="4663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8A7A7E"/>
                </a:solidFill>
                <a:latin typeface="Calibri"/>
              </a:rPr>
              <a:t>Mais ácido significa pH menor. As duas medidas descrevem o mesmo fenômeno por ângulos opostos.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69080"/>
            <a:ext cx="5394960" cy="1737360"/>
          </a:xfrm>
          <a:prstGeom prst="roundRect">
            <a:avLst>
              <a:gd name="adj" fmla="val 6000"/>
            </a:avLst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D2E46"/>
                </a:solidFill>
                <a:latin typeface="Calibri"/>
              </a:rPr>
              <a:t>Enxofre livre e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233672"/>
            <a:ext cx="1234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" b="1" i="0">
                <a:solidFill>
                  <a:srgbClr val="A26769"/>
                </a:solidFill>
                <a:latin typeface="Cambria"/>
              </a:rPr>
              <a:t>0,00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27448"/>
            <a:ext cx="4663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8A7A7E"/>
                </a:solidFill>
                <a:latin typeface="Calibri"/>
              </a:rPr>
              <a:t>O enxofre livre é parte do total, então as duas medidas caminham juntas por definição.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4069080"/>
            <a:ext cx="5394960" cy="1737360"/>
          </a:xfrm>
          <a:prstGeom prst="roundRect">
            <a:avLst>
              <a:gd name="adj" fmla="val 6000"/>
            </a:avLst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11112" y="429768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D2E46"/>
                </a:solidFill>
                <a:latin typeface="Calibri"/>
              </a:rPr>
              <a:t>Acidez volátil e nota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85832" y="4233672"/>
            <a:ext cx="1234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" b="1" i="0">
                <a:solidFill>
                  <a:srgbClr val="A26769"/>
                </a:solidFill>
                <a:latin typeface="Cambria"/>
              </a:rPr>
              <a:t>0,00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4727448"/>
            <a:ext cx="4663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8A7A7E"/>
                </a:solidFill>
                <a:latin typeface="Calibri"/>
              </a:rPr>
              <a:t>Quanto mais ácido acético, pior a avaliação — o defeito é percebido imediatamente na degustação.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8A7A7E"/>
                </a:solidFill>
                <a:latin typeface="Calibri"/>
              </a:rPr>
              <a:t>Preencher cada valor com o coeficiente calculado na análise. Numeros ilustrativos. Substituir pelos resultados reais apos rodar os notebooks.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6D2E46"/>
                </a:solidFill>
                <a:latin typeface="Cambria"/>
              </a:rPr>
              <a:t>Como testamos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44168"/>
            <a:ext cx="10180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8A7A7E"/>
                </a:solidFill>
                <a:latin typeface="Calibri"/>
              </a:rPr>
              <a:t>Nenhum vinho usado para ensinar o método foi usado para avaliá-lo.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286000"/>
            <a:ext cx="2567635" cy="2606040"/>
          </a:xfrm>
          <a:prstGeom prst="roundRect">
            <a:avLst>
              <a:gd name="adj" fmla="val 6000"/>
            </a:avLst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68680" y="2560320"/>
            <a:ext cx="658368" cy="65836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456432"/>
            <a:ext cx="19275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6D2E46"/>
                </a:solidFill>
                <a:latin typeface="Calibri"/>
              </a:rPr>
              <a:t>Separamos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58768"/>
            <a:ext cx="19275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8A7A7E"/>
                </a:solidFill>
                <a:latin typeface="Calibri"/>
              </a:rPr>
              <a:t>Uma parte dos vinhos foi reservada e teve a nota escondida do método.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7987" y="3337560"/>
            <a:ext cx="310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A26769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0595" y="2286000"/>
            <a:ext cx="2567635" cy="2606040"/>
          </a:xfrm>
          <a:prstGeom prst="roundRect">
            <a:avLst>
              <a:gd name="adj" fmla="val 6000"/>
            </a:avLst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3710635" y="2560320"/>
            <a:ext cx="658368" cy="65836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0635" y="3456432"/>
            <a:ext cx="19275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6D2E46"/>
                </a:solidFill>
                <a:latin typeface="Calibri"/>
              </a:rPr>
              <a:t>Ensinamos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0635" y="3858768"/>
            <a:ext cx="19275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8A7A7E"/>
                </a:solidFill>
                <a:latin typeface="Calibri"/>
              </a:rPr>
              <a:t>Com o restante, o método aprendeu a associar medições a notas altas.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9942" y="3337560"/>
            <a:ext cx="310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A26769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2550" y="2286000"/>
            <a:ext cx="2567635" cy="2606040"/>
          </a:xfrm>
          <a:prstGeom prst="roundRect">
            <a:avLst>
              <a:gd name="adj" fmla="val 6000"/>
            </a:avLst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552590" y="2560320"/>
            <a:ext cx="658368" cy="65836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2590" y="3456432"/>
            <a:ext cx="19275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6D2E46"/>
                </a:solidFill>
                <a:latin typeface="Calibri"/>
              </a:rPr>
              <a:t>Comparamos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2590" y="3858768"/>
            <a:ext cx="19275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8A7A7E"/>
                </a:solidFill>
                <a:latin typeface="Calibri"/>
              </a:rPr>
              <a:t>Testamos dois caminhos diferentes de análise e confrontamos os resultados.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81897" y="3337560"/>
            <a:ext cx="310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A26769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4505" y="2286000"/>
            <a:ext cx="2567635" cy="2606040"/>
          </a:xfrm>
          <a:prstGeom prst="roundRect">
            <a:avLst>
              <a:gd name="adj" fmla="val 6000"/>
            </a:avLst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394545" y="2560320"/>
            <a:ext cx="658368" cy="65836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4545" y="3456432"/>
            <a:ext cx="19275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6D2E46"/>
                </a:solidFill>
                <a:latin typeface="Calibri"/>
              </a:rPr>
              <a:t>Conferimos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4545" y="3858768"/>
            <a:ext cx="19275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8A7A7E"/>
                </a:solidFill>
                <a:latin typeface="Calibri"/>
              </a:rPr>
              <a:t>Revelamos as notas escondidas e medimos os acertos.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6D2E46"/>
                </a:solidFill>
                <a:latin typeface="Calibri"/>
              </a:rPr>
              <a:t>Por que dois caminhos e não um só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3A2C30"/>
                </a:solidFill>
                <a:latin typeface="Calibri"/>
              </a:rPr>
              <a:t>Um método simples e transparente, que mostra claramente o peso de cada medição, e um método mais sofisticado, capaz de captar combinações que o primeiro não enxerga. Comparar os dois evita confiar em um resultado sem ter parâmetro.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Cambria"/>
              </a:rPr>
              <a:t>O resultado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180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C9B3B8"/>
                </a:solidFill>
                <a:latin typeface="Calibri"/>
              </a:rPr>
              <a:t>Medimos o que realmente importa: quantos vinhos de qualidade o método encontra.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377440"/>
            <a:ext cx="3392424" cy="2011680"/>
          </a:xfrm>
          <a:prstGeom prst="roundRect">
            <a:avLst>
              <a:gd name="adj" fmla="val 6000"/>
            </a:avLst>
          </a:prstGeom>
          <a:solidFill>
            <a:srgbClr val="432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" y="2651760"/>
            <a:ext cx="2743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CE2D0"/>
                </a:solidFill>
                <a:latin typeface="Cambria"/>
              </a:rPr>
              <a:t>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520440"/>
            <a:ext cx="2743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9B3B8"/>
                </a:solidFill>
                <a:latin typeface="Calibri"/>
              </a:rPr>
              <a:t>dos vinhos de alta qualidade
foram identificados corretamente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8264" y="2377440"/>
            <a:ext cx="3392424" cy="2011680"/>
          </a:xfrm>
          <a:prstGeom prst="roundRect">
            <a:avLst>
              <a:gd name="adj" fmla="val 6000"/>
            </a:avLst>
          </a:prstGeom>
          <a:solidFill>
            <a:srgbClr val="432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18303" y="2651760"/>
            <a:ext cx="2743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CE2D0"/>
                </a:solidFill>
                <a:latin typeface="Cambria"/>
              </a:rPr>
              <a:t>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8303" y="3520440"/>
            <a:ext cx="2743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9B3B8"/>
                </a:solidFill>
                <a:latin typeface="Calibri"/>
              </a:rPr>
              <a:t>dos vinhos apontados como bons
realmente eram bons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47888" y="2377440"/>
            <a:ext cx="3392424" cy="2011680"/>
          </a:xfrm>
          <a:prstGeom prst="roundRect">
            <a:avLst>
              <a:gd name="adj" fmla="val 6000"/>
            </a:avLst>
          </a:prstGeom>
          <a:solidFill>
            <a:srgbClr val="432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67928" y="2651760"/>
            <a:ext cx="2743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CE2D0"/>
                </a:solidFill>
                <a:latin typeface="Cambria"/>
              </a:rPr>
              <a:t>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67928" y="3520440"/>
            <a:ext cx="2743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9B3B8"/>
                </a:solidFill>
                <a:latin typeface="Calibri"/>
              </a:rPr>
              <a:t>medições bastam para chegar
a esse resultado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54880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A26769"/>
                </a:solidFill>
                <a:latin typeface="Calibri"/>
              </a:rPr>
              <a:t>Uma ressalva honesta</a:t>
            </a: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ECE2D0"/>
                </a:solidFill>
                <a:latin typeface="Calibri"/>
              </a:rPr>
              <a:t>O método erra — e o tipo de erro importa. Deixar de reconhecer um vinho excelente significa vender abaixo do valor. Apontar como excelente um vinho comum expõe a marca. A escolha entre proteger um risco ou outro é uma decisão de negócio, não uma decisão técnica.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2636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C9B3B8"/>
                </a:solidFill>
                <a:latin typeface="Calibri"/>
              </a:rPr>
              <a:t>Numeros ilustrativos. Substituir pelos resultados reais apos rodar os notebooks.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6D2E46"/>
                </a:solidFill>
                <a:latin typeface="Cambria"/>
              </a:rPr>
              <a:t>O que a vinícola pode fazer com isso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44168"/>
            <a:ext cx="10180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8A7A7E"/>
                </a:solidFill>
                <a:latin typeface="Calibri"/>
              </a:rPr>
              <a:t>Cada medição influente aponta para uma decisão concreta na produção.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240280"/>
            <a:ext cx="11094415" cy="1207008"/>
          </a:xfrm>
          <a:prstGeom prst="roundRect">
            <a:avLst>
              <a:gd name="adj" fmla="val 6000"/>
            </a:avLst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68680" y="2551176"/>
            <a:ext cx="585216" cy="585216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19" y="2496312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6D2E46"/>
                </a:solidFill>
                <a:latin typeface="Calibri"/>
              </a:rPr>
              <a:t>Acidez volátil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2862072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A7A7E"/>
                </a:solidFill>
                <a:latin typeface="Calibri"/>
              </a:rPr>
              <a:t>Derruba a qualidade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624328"/>
            <a:ext cx="6675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A2C30"/>
                </a:solidFill>
                <a:latin typeface="Calibri"/>
              </a:rPr>
              <a:t>Reforçar higiene e controle microbiológico na fermentação para evitar acetificação.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11880"/>
            <a:ext cx="11094415" cy="1207008"/>
          </a:xfrm>
          <a:prstGeom prst="roundRect">
            <a:avLst>
              <a:gd name="adj" fmla="val 6000"/>
            </a:avLst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68680" y="3922776"/>
            <a:ext cx="585216" cy="585216"/>
          </a:xfrm>
          <a:prstGeom prst="ellipse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3867912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6D2E46"/>
                </a:solidFill>
                <a:latin typeface="Calibri"/>
              </a:rPr>
              <a:t>Teor alcoólico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19" y="4233672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A7A7E"/>
                </a:solidFill>
                <a:latin typeface="Calibri"/>
              </a:rPr>
              <a:t>Eleva a qualidade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995928"/>
            <a:ext cx="6675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A2C30"/>
                </a:solidFill>
                <a:latin typeface="Calibri"/>
              </a:rPr>
              <a:t>Monitorar maturação da uva e ajustar o ponto de colheita lote a lote.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83480"/>
            <a:ext cx="11094415" cy="1207008"/>
          </a:xfrm>
          <a:prstGeom prst="roundRect">
            <a:avLst>
              <a:gd name="adj" fmla="val 6000"/>
            </a:avLst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68680" y="5294376"/>
            <a:ext cx="585216" cy="585216"/>
          </a:xfrm>
          <a:prstGeom prst="ellipse">
            <a:avLst/>
          </a:prstGeom>
          <a:solidFill>
            <a:srgbClr val="8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19" y="5239512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6D2E46"/>
                </a:solidFill>
                <a:latin typeface="Calibri"/>
              </a:rPr>
              <a:t>Dióxido de enxofre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19" y="5605272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A7A7E"/>
                </a:solidFill>
                <a:latin typeface="Calibri"/>
              </a:rPr>
              <a:t>Precisa de equilíbrio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367528"/>
            <a:ext cx="6675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A2C30"/>
                </a:solidFill>
                <a:latin typeface="Calibri"/>
              </a:rPr>
              <a:t>Calibrar a dosagem: protege da oxidação, mas em excesso compromete o aroma.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5508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8A7A7E"/>
                </a:solidFill>
                <a:latin typeface="Calibri"/>
              </a:rPr>
              <a:t>Ajustar os itens acima conforme os resultados reais da análise.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3920" y="3749040"/>
            <a:ext cx="4206240" cy="4206240"/>
          </a:xfrm>
          <a:prstGeom prst="ellipse">
            <a:avLst/>
          </a:prstGeom>
          <a:solidFill>
            <a:srgbClr val="432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89719" y="4434840"/>
            <a:ext cx="2834640" cy="2834640"/>
          </a:xfrm>
          <a:prstGeom prst="ellipse">
            <a:avLst/>
          </a:prstGeom>
          <a:solidFill>
            <a:srgbClr val="5A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29800" y="5074920"/>
            <a:ext cx="1554480" cy="155448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7772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Cambria"/>
              </a:rPr>
              <a:t>Próximos passos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148840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2130552"/>
            <a:ext cx="6766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CE2D0"/>
                </a:solidFill>
                <a:latin typeface="Calibri"/>
              </a:rPr>
              <a:t>Validar em produção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2514600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C9B3B8"/>
                </a:solidFill>
                <a:latin typeface="Calibri"/>
              </a:rPr>
              <a:t>Aplicar o método a lotes novos e comparar com a avaliação do especialista.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91840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3273552"/>
            <a:ext cx="6766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CE2D0"/>
                </a:solidFill>
                <a:latin typeface="Calibri"/>
              </a:rPr>
              <a:t>Ampliar a 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3657600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C9B3B8"/>
                </a:solidFill>
                <a:latin typeface="Calibri"/>
              </a:rPr>
              <a:t>Incluir safras, regiões e castas diferentes para testar a generalização.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34840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4416552"/>
            <a:ext cx="6766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CE2D0"/>
                </a:solidFill>
                <a:latin typeface="Calibri"/>
              </a:rPr>
              <a:t>Apoiar, não substituir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4800600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C9B3B8"/>
                </a:solidFill>
                <a:latin typeface="Calibri"/>
              </a:rPr>
              <a:t>O método prioriza o que merece atenção; a palavra final continua sendo do enólogo.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23560"/>
            <a:ext cx="8503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1">
                <a:solidFill>
                  <a:srgbClr val="FFFFFF"/>
                </a:solidFill>
                <a:latin typeface="Cambria"/>
              </a:rPr>
              <a:t>A degustação continua sendo arte. O que mudamos é o momento em que a vinícola descobre o resultado.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